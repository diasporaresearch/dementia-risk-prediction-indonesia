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anva San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22" autoAdjust="0"/>
  </p:normalViewPr>
  <p:slideViewPr>
    <p:cSldViewPr>
      <p:cViewPr varScale="1">
        <p:scale>
          <a:sx n="39" d="100"/>
          <a:sy n="39" d="100"/>
        </p:scale>
        <p:origin x="95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p:cNvSpPr/>
          <p:nvPr/>
        </p:nvSpPr>
        <p:spPr>
          <a:xfrm>
            <a:off x="16078200" y="-86751"/>
            <a:ext cx="1788021" cy="1788021"/>
          </a:xfrm>
          <a:custGeom>
            <a:avLst/>
            <a:gdLst/>
            <a:ahLst/>
            <a:cxnLst/>
            <a:rect l="l" t="t" r="r" b="b"/>
            <a:pathLst>
              <a:path w="1788021" h="1788021">
                <a:moveTo>
                  <a:pt x="0" y="0"/>
                </a:moveTo>
                <a:lnTo>
                  <a:pt x="1788021" y="0"/>
                </a:lnTo>
                <a:lnTo>
                  <a:pt x="1788021" y="1788021"/>
                </a:lnTo>
                <a:lnTo>
                  <a:pt x="0" y="1788021"/>
                </a:lnTo>
                <a:lnTo>
                  <a:pt x="0" y="0"/>
                </a:lnTo>
                <a:close/>
              </a:path>
            </a:pathLst>
          </a:custGeom>
          <a:blipFill>
            <a:blip r:embed="rId3"/>
            <a:stretch>
              <a:fillRect/>
            </a:stretch>
          </a:blipFill>
        </p:spPr>
        <p:txBody>
          <a:bodyPr/>
          <a:lstStyle/>
          <a:p>
            <a:endParaRPr lang="en-GB"/>
          </a:p>
        </p:txBody>
      </p:sp>
      <p:sp>
        <p:nvSpPr>
          <p:cNvPr id="4" name="Freeform 4"/>
          <p:cNvSpPr/>
          <p:nvPr/>
        </p:nvSpPr>
        <p:spPr>
          <a:xfrm>
            <a:off x="2954777" y="2689476"/>
            <a:ext cx="2983184" cy="5344872"/>
          </a:xfrm>
          <a:custGeom>
            <a:avLst/>
            <a:gdLst/>
            <a:ahLst/>
            <a:cxnLst/>
            <a:rect l="l" t="t" r="r" b="b"/>
            <a:pathLst>
              <a:path w="2983184" h="5344872">
                <a:moveTo>
                  <a:pt x="0" y="0"/>
                </a:moveTo>
                <a:lnTo>
                  <a:pt x="2983184" y="0"/>
                </a:lnTo>
                <a:lnTo>
                  <a:pt x="2983184" y="5344872"/>
                </a:lnTo>
                <a:lnTo>
                  <a:pt x="0" y="5344872"/>
                </a:lnTo>
                <a:lnTo>
                  <a:pt x="0" y="0"/>
                </a:lnTo>
                <a:close/>
              </a:path>
            </a:pathLst>
          </a:custGeom>
          <a:blipFill>
            <a:blip r:embed="rId4"/>
            <a:stretch>
              <a:fillRect/>
            </a:stretch>
          </a:blipFill>
        </p:spPr>
        <p:txBody>
          <a:bodyPr/>
          <a:lstStyle/>
          <a:p>
            <a:endParaRPr lang="en-GB"/>
          </a:p>
        </p:txBody>
      </p:sp>
      <p:sp>
        <p:nvSpPr>
          <p:cNvPr id="5" name="TextBox 5"/>
          <p:cNvSpPr txBox="1"/>
          <p:nvPr/>
        </p:nvSpPr>
        <p:spPr>
          <a:xfrm>
            <a:off x="765742" y="2249600"/>
            <a:ext cx="16910050" cy="795021"/>
          </a:xfrm>
          <a:prstGeom prst="rect">
            <a:avLst/>
          </a:prstGeom>
        </p:spPr>
        <p:txBody>
          <a:bodyPr wrap="square" lIns="0" tIns="0" rIns="0" bIns="0" rtlCol="0" anchor="t">
            <a:spAutoFit/>
          </a:bodyPr>
          <a:lstStyle/>
          <a:p>
            <a:pPr algn="ctr">
              <a:lnSpc>
                <a:spcPts val="6579"/>
              </a:lnSpc>
              <a:spcBef>
                <a:spcPct val="0"/>
              </a:spcBef>
            </a:pPr>
            <a:r>
              <a:rPr lang="en-US" sz="4699" b="1" dirty="0">
                <a:solidFill>
                  <a:srgbClr val="15477B"/>
                </a:solidFill>
                <a:latin typeface="Canva Sans Bold"/>
                <a:ea typeface="Canva Sans Bold"/>
                <a:cs typeface="Canva Sans Bold"/>
                <a:sym typeface="Canva Sans Bold"/>
              </a:rPr>
              <a:t>Introduction to Prediction Models in Health Research</a:t>
            </a:r>
          </a:p>
        </p:txBody>
      </p:sp>
      <p:sp>
        <p:nvSpPr>
          <p:cNvPr id="6" name="TextBox 6"/>
          <p:cNvSpPr txBox="1"/>
          <p:nvPr/>
        </p:nvSpPr>
        <p:spPr>
          <a:xfrm>
            <a:off x="2238345" y="3261414"/>
            <a:ext cx="14161559" cy="580390"/>
          </a:xfrm>
          <a:prstGeom prst="rect">
            <a:avLst/>
          </a:prstGeom>
        </p:spPr>
        <p:txBody>
          <a:bodyPr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A worked example: predicting dementia risk using machine learning</a:t>
            </a:r>
          </a:p>
        </p:txBody>
      </p:sp>
      <p:sp>
        <p:nvSpPr>
          <p:cNvPr id="7" name="TextBox 7"/>
          <p:cNvSpPr txBox="1"/>
          <p:nvPr/>
        </p:nvSpPr>
        <p:spPr>
          <a:xfrm>
            <a:off x="623094" y="6167269"/>
            <a:ext cx="17041812" cy="291131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Canva Sans Bold"/>
                <a:ea typeface="Canva Sans Bold"/>
                <a:cs typeface="Canva Sans Bold"/>
                <a:sym typeface="Canva Sans Bold"/>
              </a:rPr>
              <a:t>Dr Desy Nuryunarsih</a:t>
            </a:r>
          </a:p>
          <a:p>
            <a:pPr algn="ctr">
              <a:lnSpc>
                <a:spcPts val="4620"/>
              </a:lnSpc>
              <a:spcBef>
                <a:spcPct val="0"/>
              </a:spcBef>
            </a:pPr>
            <a:r>
              <a:rPr lang="en-US" sz="3300" b="1" dirty="0">
                <a:solidFill>
                  <a:srgbClr val="000000"/>
                </a:solidFill>
                <a:latin typeface="Canva Sans Bold"/>
                <a:ea typeface="Canva Sans Bold"/>
                <a:cs typeface="Canva Sans Bold"/>
                <a:sym typeface="Canva Sans Bold"/>
              </a:rPr>
              <a:t>School of Medicine, University of St Andrews</a:t>
            </a:r>
          </a:p>
          <a:p>
            <a:pPr algn="ctr">
              <a:lnSpc>
                <a:spcPts val="4620"/>
              </a:lnSpc>
              <a:spcBef>
                <a:spcPct val="0"/>
              </a:spcBef>
            </a:pPr>
            <a:r>
              <a:rPr lang="en-US" sz="3300" b="1" dirty="0">
                <a:solidFill>
                  <a:srgbClr val="000000"/>
                </a:solidFill>
                <a:latin typeface="Canva Sans Bold"/>
                <a:ea typeface="Canva Sans Bold"/>
                <a:cs typeface="Canva Sans Bold"/>
                <a:sym typeface="Canva Sans Bold"/>
              </a:rPr>
              <a:t>INGAT-ID Study | </a:t>
            </a:r>
            <a:r>
              <a:rPr lang="en-US" sz="3300" b="1" dirty="0" err="1">
                <a:solidFill>
                  <a:srgbClr val="000000"/>
                </a:solidFill>
                <a:latin typeface="Canva Sans Bold"/>
                <a:ea typeface="Canva Sans Bold"/>
                <a:cs typeface="Canva Sans Bold"/>
                <a:sym typeface="Canva Sans Bold"/>
              </a:rPr>
              <a:t>Identifikasi</a:t>
            </a:r>
            <a:r>
              <a:rPr lang="en-US" sz="3300" b="1" dirty="0">
                <a:solidFill>
                  <a:srgbClr val="000000"/>
                </a:solidFill>
                <a:latin typeface="Canva Sans Bold"/>
                <a:ea typeface="Canva Sans Bold"/>
                <a:cs typeface="Canva Sans Bold"/>
                <a:sym typeface="Canva Sans Bold"/>
              </a:rPr>
              <a:t> </a:t>
            </a:r>
            <a:r>
              <a:rPr lang="en-US" sz="3300" b="1" dirty="0" err="1">
                <a:solidFill>
                  <a:srgbClr val="000000"/>
                </a:solidFill>
                <a:latin typeface="Canva Sans Bold"/>
                <a:ea typeface="Canva Sans Bold"/>
                <a:cs typeface="Canva Sans Bold"/>
                <a:sym typeface="Canva Sans Bold"/>
              </a:rPr>
              <a:t>Neurokognitif</a:t>
            </a:r>
            <a:r>
              <a:rPr lang="en-US" sz="3300" b="1" dirty="0">
                <a:solidFill>
                  <a:srgbClr val="000000"/>
                </a:solidFill>
                <a:latin typeface="Canva Sans Bold"/>
                <a:ea typeface="Canva Sans Bold"/>
                <a:cs typeface="Canva Sans Bold"/>
                <a:sym typeface="Canva Sans Bold"/>
              </a:rPr>
              <a:t> </a:t>
            </a:r>
            <a:r>
              <a:rPr lang="en-US" sz="3300" b="1" dirty="0" err="1">
                <a:solidFill>
                  <a:srgbClr val="000000"/>
                </a:solidFill>
                <a:latin typeface="Canva Sans Bold"/>
                <a:ea typeface="Canva Sans Bold"/>
                <a:cs typeface="Canva Sans Bold"/>
                <a:sym typeface="Canva Sans Bold"/>
              </a:rPr>
              <a:t>Gangguan</a:t>
            </a:r>
            <a:r>
              <a:rPr lang="en-US" sz="3300" b="1" dirty="0">
                <a:solidFill>
                  <a:srgbClr val="000000"/>
                </a:solidFill>
                <a:latin typeface="Canva Sans Bold"/>
                <a:ea typeface="Canva Sans Bold"/>
                <a:cs typeface="Canva Sans Bold"/>
                <a:sym typeface="Canva Sans Bold"/>
              </a:rPr>
              <a:t> Alzheimer/</a:t>
            </a:r>
            <a:r>
              <a:rPr lang="en-US" sz="3300" b="1" dirty="0" err="1">
                <a:solidFill>
                  <a:srgbClr val="000000"/>
                </a:solidFill>
                <a:latin typeface="Canva Sans Bold"/>
                <a:ea typeface="Canva Sans Bold"/>
                <a:cs typeface="Canva Sans Bold"/>
                <a:sym typeface="Canva Sans Bold"/>
              </a:rPr>
              <a:t>demensia</a:t>
            </a:r>
            <a:r>
              <a:rPr lang="en-US" sz="3300" b="1" dirty="0">
                <a:solidFill>
                  <a:srgbClr val="000000"/>
                </a:solidFill>
                <a:latin typeface="Canva Sans Bold"/>
                <a:ea typeface="Canva Sans Bold"/>
                <a:cs typeface="Canva Sans Bold"/>
                <a:sym typeface="Canva Sans Bold"/>
              </a:rPr>
              <a:t> </a:t>
            </a:r>
            <a:r>
              <a:rPr lang="en-US" sz="3300" b="1" dirty="0" err="1">
                <a:solidFill>
                  <a:srgbClr val="000000"/>
                </a:solidFill>
                <a:latin typeface="Canva Sans Bold"/>
                <a:ea typeface="Canva Sans Bold"/>
                <a:cs typeface="Canva Sans Bold"/>
                <a:sym typeface="Canva Sans Bold"/>
              </a:rPr>
              <a:t>Terpadu</a:t>
            </a:r>
            <a:r>
              <a:rPr lang="en-US" sz="3300" b="1" dirty="0">
                <a:solidFill>
                  <a:srgbClr val="000000"/>
                </a:solidFill>
                <a:latin typeface="Canva Sans Bold"/>
                <a:ea typeface="Canva Sans Bold"/>
                <a:cs typeface="Canva Sans Bold"/>
                <a:sym typeface="Canva Sans Bold"/>
              </a:rPr>
              <a:t> | Indonesia</a:t>
            </a:r>
          </a:p>
          <a:p>
            <a:pPr algn="ctr">
              <a:lnSpc>
                <a:spcPts val="4620"/>
              </a:lnSpc>
              <a:spcBef>
                <a:spcPct val="0"/>
              </a:spcBef>
            </a:pPr>
            <a:endParaRPr lang="en-US" sz="3300"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4749530" y="2113652"/>
            <a:ext cx="12663322" cy="5595620"/>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Part 1: What is a prediction model, and why do we build them?</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Part 2: The basic steps of building one</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Part 3: Common types of models (statistical vs. machine learning)</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Part 4: How we know if a model is any good</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Part 5: Worked example : a dementia risk prediction study</a:t>
            </a:r>
          </a:p>
        </p:txBody>
      </p:sp>
      <p:sp>
        <p:nvSpPr>
          <p:cNvPr id="4" name="Freeform 4"/>
          <p:cNvSpPr/>
          <p:nvPr/>
        </p:nvSpPr>
        <p:spPr>
          <a:xfrm>
            <a:off x="133712" y="3051239"/>
            <a:ext cx="4978172" cy="4753589"/>
          </a:xfrm>
          <a:custGeom>
            <a:avLst/>
            <a:gdLst/>
            <a:ahLst/>
            <a:cxnLst/>
            <a:rect l="l" t="t" r="r" b="b"/>
            <a:pathLst>
              <a:path w="4978172" h="4753589">
                <a:moveTo>
                  <a:pt x="0" y="0"/>
                </a:moveTo>
                <a:lnTo>
                  <a:pt x="4978173" y="0"/>
                </a:lnTo>
                <a:lnTo>
                  <a:pt x="4978173" y="4753590"/>
                </a:lnTo>
                <a:lnTo>
                  <a:pt x="0" y="4753590"/>
                </a:lnTo>
                <a:lnTo>
                  <a:pt x="0" y="0"/>
                </a:lnTo>
                <a:close/>
              </a:path>
            </a:pathLst>
          </a:custGeom>
          <a:blipFill>
            <a:blip r:embed="rId3"/>
            <a:stretch>
              <a:fillRect t="-49356" b="-38275"/>
            </a:stretch>
          </a:blipFill>
        </p:spPr>
        <p:txBody>
          <a:bodyPr/>
          <a:lstStyle/>
          <a:p>
            <a:endParaRPr lang="en-GB"/>
          </a:p>
        </p:txBody>
      </p:sp>
      <p:sp>
        <p:nvSpPr>
          <p:cNvPr id="5" name="TextBox 5"/>
          <p:cNvSpPr txBox="1"/>
          <p:nvPr/>
        </p:nvSpPr>
        <p:spPr>
          <a:xfrm>
            <a:off x="457200" y="703902"/>
            <a:ext cx="7966081"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 What We'll Cover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744795" y="616585"/>
            <a:ext cx="8542205"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What Is a Prediction Model?</a:t>
            </a:r>
          </a:p>
        </p:txBody>
      </p:sp>
      <p:sp>
        <p:nvSpPr>
          <p:cNvPr id="4" name="TextBox 4"/>
          <p:cNvSpPr txBox="1"/>
          <p:nvPr/>
        </p:nvSpPr>
        <p:spPr>
          <a:xfrm>
            <a:off x="4224236" y="2222415"/>
            <a:ext cx="12600498" cy="6167676"/>
          </a:xfrm>
          <a:prstGeom prst="rect">
            <a:avLst/>
          </a:prstGeom>
        </p:spPr>
        <p:txBody>
          <a:bodyPr lIns="0" tIns="0" rIns="0" bIns="0" rtlCol="0" anchor="t">
            <a:spAutoFit/>
          </a:bodyPr>
          <a:lstStyle/>
          <a:p>
            <a:pPr algn="l">
              <a:lnSpc>
                <a:spcPts val="4449"/>
              </a:lnSpc>
              <a:spcBef>
                <a:spcPct val="0"/>
              </a:spcBef>
            </a:pPr>
            <a:r>
              <a:rPr lang="en-US" sz="3178" b="1">
                <a:solidFill>
                  <a:srgbClr val="000000"/>
                </a:solidFill>
                <a:latin typeface="Canva Sans Bold"/>
                <a:ea typeface="Canva Sans Bold"/>
                <a:cs typeface="Canva Sans Bold"/>
                <a:sym typeface="Canva Sans Bold"/>
              </a:rPr>
              <a:t>• A tool that estimates the probability of an outcome, using known information about a person or case</a:t>
            </a:r>
          </a:p>
          <a:p>
            <a:pPr algn="l">
              <a:lnSpc>
                <a:spcPts val="4449"/>
              </a:lnSpc>
              <a:spcBef>
                <a:spcPct val="0"/>
              </a:spcBef>
            </a:pPr>
            <a:endParaRPr lang="en-US" sz="3178" b="1">
              <a:solidFill>
                <a:srgbClr val="000000"/>
              </a:solidFill>
              <a:latin typeface="Canva Sans Bold"/>
              <a:ea typeface="Canva Sans Bold"/>
              <a:cs typeface="Canva Sans Bold"/>
              <a:sym typeface="Canva Sans Bold"/>
            </a:endParaRPr>
          </a:p>
          <a:p>
            <a:pPr algn="l">
              <a:lnSpc>
                <a:spcPts val="4449"/>
              </a:lnSpc>
              <a:spcBef>
                <a:spcPct val="0"/>
              </a:spcBef>
            </a:pPr>
            <a:r>
              <a:rPr lang="en-US" sz="3178" b="1">
                <a:solidFill>
                  <a:srgbClr val="000000"/>
                </a:solidFill>
                <a:latin typeface="Canva Sans Bold"/>
                <a:ea typeface="Canva Sans Bold"/>
                <a:cs typeface="Canva Sans Bold"/>
                <a:sym typeface="Canva Sans Bold"/>
              </a:rPr>
              <a:t>• Example: predicting whether a patient will develop a disease, based on their age, symptoms, and test results</a:t>
            </a:r>
          </a:p>
          <a:p>
            <a:pPr algn="l">
              <a:lnSpc>
                <a:spcPts val="4449"/>
              </a:lnSpc>
              <a:spcBef>
                <a:spcPct val="0"/>
              </a:spcBef>
            </a:pPr>
            <a:endParaRPr lang="en-US" sz="3178" b="1">
              <a:solidFill>
                <a:srgbClr val="000000"/>
              </a:solidFill>
              <a:latin typeface="Canva Sans Bold"/>
              <a:ea typeface="Canva Sans Bold"/>
              <a:cs typeface="Canva Sans Bold"/>
              <a:sym typeface="Canva Sans Bold"/>
            </a:endParaRPr>
          </a:p>
          <a:p>
            <a:pPr algn="l">
              <a:lnSpc>
                <a:spcPts val="4449"/>
              </a:lnSpc>
              <a:spcBef>
                <a:spcPct val="0"/>
              </a:spcBef>
            </a:pPr>
            <a:r>
              <a:rPr lang="en-US" sz="3178" b="1">
                <a:solidFill>
                  <a:srgbClr val="000000"/>
                </a:solidFill>
                <a:latin typeface="Canva Sans Bold"/>
                <a:ea typeface="Canva Sans Bold"/>
                <a:cs typeface="Canva Sans Bold"/>
                <a:sym typeface="Canva Sans Bold"/>
              </a:rPr>
              <a:t>• Two ingredients: predictors (inputs / features) and an outcome (what we're trying to predict)</a:t>
            </a:r>
          </a:p>
          <a:p>
            <a:pPr algn="l">
              <a:lnSpc>
                <a:spcPts val="4449"/>
              </a:lnSpc>
              <a:spcBef>
                <a:spcPct val="0"/>
              </a:spcBef>
            </a:pPr>
            <a:endParaRPr lang="en-US" sz="3178" b="1">
              <a:solidFill>
                <a:srgbClr val="000000"/>
              </a:solidFill>
              <a:latin typeface="Canva Sans Bold"/>
              <a:ea typeface="Canva Sans Bold"/>
              <a:cs typeface="Canva Sans Bold"/>
              <a:sym typeface="Canva Sans Bold"/>
            </a:endParaRPr>
          </a:p>
          <a:p>
            <a:pPr algn="l">
              <a:lnSpc>
                <a:spcPts val="4449"/>
              </a:lnSpc>
              <a:spcBef>
                <a:spcPct val="0"/>
              </a:spcBef>
            </a:pPr>
            <a:r>
              <a:rPr lang="en-US" sz="3178" b="1">
                <a:solidFill>
                  <a:srgbClr val="000000"/>
                </a:solidFill>
                <a:latin typeface="Canva Sans Bold"/>
                <a:ea typeface="Canva Sans Bold"/>
                <a:cs typeface="Canva Sans Bold"/>
                <a:sym typeface="Canva Sans Bold"/>
              </a:rPr>
              <a:t>Goal: support decisions who to screen, who to treat earlier, who needs monitoring</a:t>
            </a:r>
          </a:p>
        </p:txBody>
      </p:sp>
      <p:sp>
        <p:nvSpPr>
          <p:cNvPr id="5" name="Freeform 5"/>
          <p:cNvSpPr/>
          <p:nvPr/>
        </p:nvSpPr>
        <p:spPr>
          <a:xfrm>
            <a:off x="1269460" y="1791016"/>
            <a:ext cx="5363974" cy="6704967"/>
          </a:xfrm>
          <a:custGeom>
            <a:avLst/>
            <a:gdLst/>
            <a:ahLst/>
            <a:cxnLst/>
            <a:rect l="l" t="t" r="r" b="b"/>
            <a:pathLst>
              <a:path w="5363974" h="6704967">
                <a:moveTo>
                  <a:pt x="0" y="0"/>
                </a:moveTo>
                <a:lnTo>
                  <a:pt x="5363974" y="0"/>
                </a:lnTo>
                <a:lnTo>
                  <a:pt x="5363974" y="6704968"/>
                </a:lnTo>
                <a:lnTo>
                  <a:pt x="0" y="6704968"/>
                </a:lnTo>
                <a:lnTo>
                  <a:pt x="0" y="0"/>
                </a:lnTo>
                <a:close/>
              </a:path>
            </a:pathLst>
          </a:custGeom>
          <a:blipFill>
            <a:blip r:embed="rId3">
              <a:alphaModFix amt="23000"/>
            </a:blip>
            <a:stretch>
              <a:fillRect l="-39638" t="-9777" r="-2851" b="-4214"/>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2036128"/>
            <a:ext cx="12465996" cy="6157595"/>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Many diseases are easier to prevent or manage if caught early</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Clinicians can't mentally weigh 30–90 risk factors at once  models can</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Successful examples: cardiovascular risk scores, stroke risk calculators</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Gap: very few validated models exist for some conditions in some populations (e.g., dementia in Indonesia, more on this later)</a:t>
            </a:r>
          </a:p>
        </p:txBody>
      </p:sp>
      <p:sp>
        <p:nvSpPr>
          <p:cNvPr id="4" name="Freeform 4"/>
          <p:cNvSpPr/>
          <p:nvPr/>
        </p:nvSpPr>
        <p:spPr>
          <a:xfrm>
            <a:off x="13266778" y="1814722"/>
            <a:ext cx="3992522" cy="7153268"/>
          </a:xfrm>
          <a:custGeom>
            <a:avLst/>
            <a:gdLst/>
            <a:ahLst/>
            <a:cxnLst/>
            <a:rect l="l" t="t" r="r" b="b"/>
            <a:pathLst>
              <a:path w="3992522" h="7153268">
                <a:moveTo>
                  <a:pt x="0" y="0"/>
                </a:moveTo>
                <a:lnTo>
                  <a:pt x="3992522" y="0"/>
                </a:lnTo>
                <a:lnTo>
                  <a:pt x="3992522" y="7153268"/>
                </a:lnTo>
                <a:lnTo>
                  <a:pt x="0" y="7153268"/>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533400" y="596260"/>
            <a:ext cx="15887700"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Why Do We Need Prediction Models in Health Research?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170967" y="6808065"/>
            <a:ext cx="15176004" cy="1135864"/>
          </a:xfrm>
          <a:prstGeom prst="rect">
            <a:avLst/>
          </a:prstGeom>
        </p:spPr>
        <p:txBody>
          <a:bodyPr lIns="0" tIns="0" rIns="0" bIns="0" rtlCol="0" anchor="t">
            <a:spAutoFit/>
          </a:bodyPr>
          <a:lstStyle/>
          <a:p>
            <a:pPr marL="708355" lvl="1" indent="-354178" algn="l">
              <a:lnSpc>
                <a:spcPts val="4593"/>
              </a:lnSpc>
              <a:buFont typeface="Arial"/>
              <a:buChar char="•"/>
            </a:pPr>
            <a:r>
              <a:rPr lang="en-US" sz="3280" b="1">
                <a:solidFill>
                  <a:srgbClr val="000000"/>
                </a:solidFill>
                <a:latin typeface="Canva Sans Bold"/>
                <a:ea typeface="Canva Sans Bold"/>
                <a:cs typeface="Canva Sans Bold"/>
                <a:sym typeface="Canva Sans Bold"/>
              </a:rPr>
              <a:t>A prediction model learns the relationship between predictors and outcome from data</a:t>
            </a:r>
          </a:p>
        </p:txBody>
      </p:sp>
      <p:sp>
        <p:nvSpPr>
          <p:cNvPr id="4" name="Freeform 4"/>
          <p:cNvSpPr/>
          <p:nvPr/>
        </p:nvSpPr>
        <p:spPr>
          <a:xfrm>
            <a:off x="12082969" y="3481820"/>
            <a:ext cx="2824893" cy="3039442"/>
          </a:xfrm>
          <a:custGeom>
            <a:avLst/>
            <a:gdLst/>
            <a:ahLst/>
            <a:cxnLst/>
            <a:rect l="l" t="t" r="r" b="b"/>
            <a:pathLst>
              <a:path w="2824893" h="3039442">
                <a:moveTo>
                  <a:pt x="0" y="0"/>
                </a:moveTo>
                <a:lnTo>
                  <a:pt x="2824893" y="0"/>
                </a:lnTo>
                <a:lnTo>
                  <a:pt x="2824893" y="3039442"/>
                </a:lnTo>
                <a:lnTo>
                  <a:pt x="0" y="3039442"/>
                </a:lnTo>
                <a:lnTo>
                  <a:pt x="0" y="0"/>
                </a:lnTo>
                <a:close/>
              </a:path>
            </a:pathLst>
          </a:custGeom>
          <a:blipFill>
            <a:blip r:embed="rId3"/>
            <a:stretch>
              <a:fillRect l="-11663" t="-57301" r="-3787" b="-34948"/>
            </a:stretch>
          </a:blipFill>
        </p:spPr>
        <p:txBody>
          <a:bodyPr/>
          <a:lstStyle/>
          <a:p>
            <a:endParaRPr lang="en-GB"/>
          </a:p>
        </p:txBody>
      </p:sp>
      <p:sp>
        <p:nvSpPr>
          <p:cNvPr id="5" name="TextBox 5"/>
          <p:cNvSpPr txBox="1"/>
          <p:nvPr/>
        </p:nvSpPr>
        <p:spPr>
          <a:xfrm>
            <a:off x="1170967" y="2225094"/>
            <a:ext cx="15946066" cy="166179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Predictors (also called: features, independent variables, risk factors) the information we measure about each person, e.g. age, blood pressure, lifestyle habit</a:t>
            </a:r>
          </a:p>
        </p:txBody>
      </p:sp>
      <p:sp>
        <p:nvSpPr>
          <p:cNvPr id="6" name="TextBox 6"/>
          <p:cNvSpPr txBox="1"/>
          <p:nvPr/>
        </p:nvSpPr>
        <p:spPr>
          <a:xfrm>
            <a:off x="1170967" y="4517620"/>
            <a:ext cx="10912002" cy="166179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Outcome (also called: target, dependent variable, label) what we are trying to predict, e.g. "will this person develop the condition? Yes/No"</a:t>
            </a:r>
          </a:p>
        </p:txBody>
      </p:sp>
      <p:sp>
        <p:nvSpPr>
          <p:cNvPr id="7" name="TextBox 7"/>
          <p:cNvSpPr txBox="1"/>
          <p:nvPr/>
        </p:nvSpPr>
        <p:spPr>
          <a:xfrm>
            <a:off x="914400" y="710637"/>
            <a:ext cx="12056220"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Two Key Terms: Predictors and Outcome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197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1815774"/>
            <a:ext cx="15946041" cy="6792096"/>
          </a:xfrm>
          <a:prstGeom prst="rect">
            <a:avLst/>
          </a:prstGeom>
        </p:spPr>
        <p:txBody>
          <a:bodyPr lIns="0" tIns="0" rIns="0" bIns="0" rtlCol="0" anchor="t">
            <a:spAutoFit/>
          </a:bodyPr>
          <a:lstStyle/>
          <a:p>
            <a:pPr algn="l">
              <a:lnSpc>
                <a:spcPts val="4157"/>
              </a:lnSpc>
              <a:spcBef>
                <a:spcPct val="0"/>
              </a:spcBef>
            </a:pPr>
            <a:r>
              <a:rPr lang="en-US" sz="2969" b="1">
                <a:solidFill>
                  <a:srgbClr val="000000"/>
                </a:solidFill>
                <a:latin typeface="Canva Sans Bold"/>
                <a:ea typeface="Canva Sans Bold"/>
                <a:cs typeface="Canva Sans Bold"/>
                <a:sym typeface="Canva Sans Bold"/>
              </a:rPr>
              <a:t>1. Define the outcome clearly (what exactly are we predicting, and how is it measured?)</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2. Collect data (survey, medical records, lab results)</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3. Clean the data (handle missing values, remove errors/outliers)</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4. Split data into a training set and a test set</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5. Fit ('train') the model on the training set</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6. Test the model on data it hasn't seen before</a:t>
            </a:r>
          </a:p>
          <a:p>
            <a:pPr algn="l">
              <a:lnSpc>
                <a:spcPts val="4157"/>
              </a:lnSpc>
              <a:spcBef>
                <a:spcPct val="0"/>
              </a:spcBef>
            </a:pPr>
            <a:endParaRPr lang="en-US" sz="2969" b="1">
              <a:solidFill>
                <a:srgbClr val="000000"/>
              </a:solidFill>
              <a:latin typeface="Canva Sans Bold"/>
              <a:ea typeface="Canva Sans Bold"/>
              <a:cs typeface="Canva Sans Bold"/>
              <a:sym typeface="Canva Sans Bold"/>
            </a:endParaRPr>
          </a:p>
          <a:p>
            <a:pPr algn="l">
              <a:lnSpc>
                <a:spcPts val="4157"/>
              </a:lnSpc>
              <a:spcBef>
                <a:spcPct val="0"/>
              </a:spcBef>
            </a:pPr>
            <a:r>
              <a:rPr lang="en-US" sz="2969" b="1">
                <a:solidFill>
                  <a:srgbClr val="000000"/>
                </a:solidFill>
                <a:latin typeface="Canva Sans Bold"/>
                <a:ea typeface="Canva Sans Bold"/>
                <a:cs typeface="Canva Sans Bold"/>
                <a:sym typeface="Canva Sans Bold"/>
              </a:rPr>
              <a:t>7. Report how well it performed, and what factors mattered most</a:t>
            </a:r>
          </a:p>
        </p:txBody>
      </p:sp>
      <p:sp>
        <p:nvSpPr>
          <p:cNvPr id="4" name="Freeform 4"/>
          <p:cNvSpPr/>
          <p:nvPr/>
        </p:nvSpPr>
        <p:spPr>
          <a:xfrm>
            <a:off x="12608600" y="702310"/>
            <a:ext cx="5065772" cy="9076175"/>
          </a:xfrm>
          <a:custGeom>
            <a:avLst/>
            <a:gdLst/>
            <a:ahLst/>
            <a:cxnLst/>
            <a:rect l="l" t="t" r="r" b="b"/>
            <a:pathLst>
              <a:path w="5065772" h="9076175">
                <a:moveTo>
                  <a:pt x="0" y="0"/>
                </a:moveTo>
                <a:lnTo>
                  <a:pt x="5065772" y="0"/>
                </a:lnTo>
                <a:lnTo>
                  <a:pt x="5065772" y="9076175"/>
                </a:lnTo>
                <a:lnTo>
                  <a:pt x="0" y="9076175"/>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304800" y="645159"/>
            <a:ext cx="13677900"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The Basic Steps of Building a Prediction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4102511" y="3491509"/>
            <a:ext cx="12697157" cy="4037700"/>
          </a:xfrm>
          <a:prstGeom prst="rect">
            <a:avLst/>
          </a:prstGeom>
        </p:spPr>
        <p:txBody>
          <a:bodyPr lIns="0" tIns="0" rIns="0" bIns="0" rtlCol="0" anchor="t">
            <a:spAutoFit/>
          </a:bodyPr>
          <a:lstStyle/>
          <a:p>
            <a:pPr marL="709924" lvl="1" indent="-354962" algn="l">
              <a:lnSpc>
                <a:spcPts val="4603"/>
              </a:lnSpc>
              <a:buFont typeface="Arial"/>
              <a:buChar char="•"/>
            </a:pPr>
            <a:r>
              <a:rPr lang="en-US" sz="3288" b="1">
                <a:solidFill>
                  <a:srgbClr val="000000"/>
                </a:solidFill>
                <a:latin typeface="Canva Sans Bold"/>
                <a:ea typeface="Canva Sans Bold"/>
                <a:cs typeface="Canva Sans Bold"/>
                <a:sym typeface="Canva Sans Bold"/>
              </a:rPr>
              <a:t>Machine learning models (e.g. decision trees, random forests, XGBoost): can capture more complex patterns, often (not always) more accurate</a:t>
            </a:r>
          </a:p>
          <a:p>
            <a:pPr algn="l">
              <a:lnSpc>
                <a:spcPts val="4603"/>
              </a:lnSpc>
              <a:spcBef>
                <a:spcPct val="0"/>
              </a:spcBef>
            </a:pPr>
            <a:endParaRPr lang="en-US" sz="3288" b="1">
              <a:solidFill>
                <a:srgbClr val="000000"/>
              </a:solidFill>
              <a:latin typeface="Canva Sans Bold"/>
              <a:ea typeface="Canva Sans Bold"/>
              <a:cs typeface="Canva Sans Bold"/>
              <a:sym typeface="Canva Sans Bold"/>
            </a:endParaRPr>
          </a:p>
          <a:p>
            <a:pPr marL="709924" lvl="1" indent="-354962" algn="l">
              <a:lnSpc>
                <a:spcPts val="4603"/>
              </a:lnSpc>
              <a:spcBef>
                <a:spcPct val="0"/>
              </a:spcBef>
              <a:buFont typeface="Arial"/>
              <a:buChar char="•"/>
            </a:pPr>
            <a:r>
              <a:rPr lang="en-US" sz="3288" b="1">
                <a:solidFill>
                  <a:srgbClr val="000000"/>
                </a:solidFill>
                <a:latin typeface="Canva Sans Bold"/>
                <a:ea typeface="Canva Sans Bold"/>
                <a:cs typeface="Canva Sans Bold"/>
                <a:sym typeface="Canva Sans Bold"/>
              </a:rPr>
              <a:t>Trade-off: some ML models are "black boxes"  harder to explain why they made a prediction</a:t>
            </a:r>
          </a:p>
          <a:p>
            <a:pPr algn="l">
              <a:lnSpc>
                <a:spcPts val="4603"/>
              </a:lnSpc>
              <a:spcBef>
                <a:spcPct val="0"/>
              </a:spcBef>
            </a:pPr>
            <a:endParaRPr lang="en-US" sz="3288" b="1">
              <a:solidFill>
                <a:srgbClr val="000000"/>
              </a:solidFill>
              <a:latin typeface="Canva Sans Bold"/>
              <a:ea typeface="Canva Sans Bold"/>
              <a:cs typeface="Canva Sans Bold"/>
              <a:sym typeface="Canva Sans Bold"/>
            </a:endParaRPr>
          </a:p>
        </p:txBody>
      </p:sp>
      <p:sp>
        <p:nvSpPr>
          <p:cNvPr id="4" name="Freeform 4"/>
          <p:cNvSpPr/>
          <p:nvPr/>
        </p:nvSpPr>
        <p:spPr>
          <a:xfrm>
            <a:off x="1160023" y="3151762"/>
            <a:ext cx="3589506" cy="4377447"/>
          </a:xfrm>
          <a:custGeom>
            <a:avLst/>
            <a:gdLst/>
            <a:ahLst/>
            <a:cxnLst/>
            <a:rect l="l" t="t" r="r" b="b"/>
            <a:pathLst>
              <a:path w="3589506" h="4377447">
                <a:moveTo>
                  <a:pt x="0" y="0"/>
                </a:moveTo>
                <a:lnTo>
                  <a:pt x="3589507" y="0"/>
                </a:lnTo>
                <a:lnTo>
                  <a:pt x="3589507" y="4377447"/>
                </a:lnTo>
                <a:lnTo>
                  <a:pt x="0" y="4377447"/>
                </a:lnTo>
                <a:lnTo>
                  <a:pt x="0" y="0"/>
                </a:lnTo>
                <a:close/>
              </a:path>
            </a:pathLst>
          </a:custGeom>
          <a:blipFill>
            <a:blip r:embed="rId3"/>
            <a:stretch>
              <a:fillRect l="-8188" t="-39705" r="-3039" b="-23705"/>
            </a:stretch>
          </a:blipFill>
        </p:spPr>
        <p:txBody>
          <a:bodyPr/>
          <a:lstStyle/>
          <a:p>
            <a:endParaRPr lang="en-GB"/>
          </a:p>
        </p:txBody>
      </p:sp>
      <p:sp>
        <p:nvSpPr>
          <p:cNvPr id="5" name="TextBox 5"/>
          <p:cNvSpPr txBox="1"/>
          <p:nvPr/>
        </p:nvSpPr>
        <p:spPr>
          <a:xfrm>
            <a:off x="1549286" y="616585"/>
            <a:ext cx="12606734" cy="738506"/>
          </a:xfrm>
          <a:prstGeom prst="rect">
            <a:avLst/>
          </a:prstGeom>
        </p:spPr>
        <p:txBody>
          <a:bodyPr lIns="0" tIns="0" rIns="0" bIns="0" rtlCol="0" anchor="t">
            <a:spAutoFit/>
          </a:bodyPr>
          <a:lstStyle/>
          <a:p>
            <a:pPr algn="ctr">
              <a:lnSpc>
                <a:spcPts val="6019"/>
              </a:lnSpc>
              <a:spcBef>
                <a:spcPct val="0"/>
              </a:spcBef>
            </a:pPr>
            <a:r>
              <a:rPr lang="en-US" sz="4299" b="1">
                <a:solidFill>
                  <a:srgbClr val="15477B"/>
                </a:solidFill>
                <a:latin typeface="Canva Sans Bold"/>
                <a:ea typeface="Canva Sans Bold"/>
                <a:cs typeface="Canva Sans Bold"/>
                <a:sym typeface="Canva Sans Bold"/>
              </a:rPr>
              <a:t>Statistical Models vs. Machine Learning Models</a:t>
            </a:r>
          </a:p>
        </p:txBody>
      </p:sp>
      <p:sp>
        <p:nvSpPr>
          <p:cNvPr id="6" name="TextBox 6"/>
          <p:cNvSpPr txBox="1"/>
          <p:nvPr/>
        </p:nvSpPr>
        <p:spPr>
          <a:xfrm>
            <a:off x="2062199" y="1674941"/>
            <a:ext cx="16777781" cy="1099820"/>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 Statistical models (e.g. logistic regression): simpler, easier to interpret coefficients, long track record in medicine</a:t>
            </a:r>
          </a:p>
        </p:txBody>
      </p:sp>
      <p:sp>
        <p:nvSpPr>
          <p:cNvPr id="7" name="TextBox 7"/>
          <p:cNvSpPr txBox="1"/>
          <p:nvPr/>
        </p:nvSpPr>
        <p:spPr>
          <a:xfrm>
            <a:off x="2062199" y="7669044"/>
            <a:ext cx="15197101" cy="1099820"/>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Tree-based ML models are a nice middle ground: powerful, but still show a visual decision path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562438" y="3606341"/>
            <a:ext cx="11415861" cy="278574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Example: "Does the patient take diuretics?" → "Are they over 60?" → prediction</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Advantage: you can literally draw the decision pathway and show it to a clinician</a:t>
            </a:r>
          </a:p>
        </p:txBody>
      </p:sp>
      <p:sp>
        <p:nvSpPr>
          <p:cNvPr id="4" name="Freeform 4"/>
          <p:cNvSpPr/>
          <p:nvPr/>
        </p:nvSpPr>
        <p:spPr>
          <a:xfrm>
            <a:off x="12400786" y="2648355"/>
            <a:ext cx="4442656" cy="4252354"/>
          </a:xfrm>
          <a:custGeom>
            <a:avLst/>
            <a:gdLst/>
            <a:ahLst/>
            <a:cxnLst/>
            <a:rect l="l" t="t" r="r" b="b"/>
            <a:pathLst>
              <a:path w="4442656" h="4252354">
                <a:moveTo>
                  <a:pt x="0" y="0"/>
                </a:moveTo>
                <a:lnTo>
                  <a:pt x="4442657" y="0"/>
                </a:lnTo>
                <a:lnTo>
                  <a:pt x="4442657" y="4252355"/>
                </a:lnTo>
                <a:lnTo>
                  <a:pt x="0" y="4252355"/>
                </a:lnTo>
                <a:lnTo>
                  <a:pt x="0" y="0"/>
                </a:lnTo>
                <a:close/>
              </a:path>
            </a:pathLst>
          </a:custGeom>
          <a:blipFill>
            <a:blip r:embed="rId3"/>
            <a:stretch>
              <a:fillRect t="-55669" r="-5180" b="-41211"/>
            </a:stretch>
          </a:blipFill>
        </p:spPr>
        <p:txBody>
          <a:bodyPr/>
          <a:lstStyle/>
          <a:p>
            <a:endParaRPr lang="en-GB"/>
          </a:p>
        </p:txBody>
      </p:sp>
      <p:sp>
        <p:nvSpPr>
          <p:cNvPr id="5" name="TextBox 5"/>
          <p:cNvSpPr txBox="1"/>
          <p:nvPr/>
        </p:nvSpPr>
        <p:spPr>
          <a:xfrm>
            <a:off x="1400783" y="784130"/>
            <a:ext cx="13763017"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Decision Trees : the Simplest Tree-Based Model</a:t>
            </a:r>
          </a:p>
        </p:txBody>
      </p:sp>
      <p:sp>
        <p:nvSpPr>
          <p:cNvPr id="6" name="TextBox 6"/>
          <p:cNvSpPr txBox="1"/>
          <p:nvPr/>
        </p:nvSpPr>
        <p:spPr>
          <a:xfrm>
            <a:off x="1562438" y="2351311"/>
            <a:ext cx="15119350" cy="53784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 Splits the data step-by-step using yes/no questions about the predictors</a:t>
            </a:r>
          </a:p>
        </p:txBody>
      </p:sp>
      <p:sp>
        <p:nvSpPr>
          <p:cNvPr id="7" name="TextBox 7"/>
          <p:cNvSpPr txBox="1"/>
          <p:nvPr/>
        </p:nvSpPr>
        <p:spPr>
          <a:xfrm>
            <a:off x="1562438" y="6843560"/>
            <a:ext cx="15442660" cy="1099820"/>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anva Sans Bold"/>
                <a:ea typeface="Canva Sans Bold"/>
                <a:cs typeface="Canva Sans Bold"/>
                <a:sym typeface="Canva Sans Bold"/>
              </a:rPr>
              <a:t>Disadvantage: a single tree can be unstable small changes in data can produce a very different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265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p:cNvSpPr/>
          <p:nvPr/>
        </p:nvSpPr>
        <p:spPr>
          <a:xfrm>
            <a:off x="1488332" y="3440329"/>
            <a:ext cx="2672154" cy="2343824"/>
          </a:xfrm>
          <a:custGeom>
            <a:avLst/>
            <a:gdLst/>
            <a:ahLst/>
            <a:cxnLst/>
            <a:rect l="l" t="t" r="r" b="b"/>
            <a:pathLst>
              <a:path w="2672154" h="2343824">
                <a:moveTo>
                  <a:pt x="0" y="0"/>
                </a:moveTo>
                <a:lnTo>
                  <a:pt x="2672154" y="0"/>
                </a:lnTo>
                <a:lnTo>
                  <a:pt x="2672154" y="2343824"/>
                </a:lnTo>
                <a:lnTo>
                  <a:pt x="0" y="2343824"/>
                </a:lnTo>
                <a:lnTo>
                  <a:pt x="0" y="0"/>
                </a:lnTo>
                <a:close/>
              </a:path>
            </a:pathLst>
          </a:custGeom>
          <a:blipFill>
            <a:blip r:embed="rId3"/>
            <a:stretch>
              <a:fillRect t="-61875" b="-42389"/>
            </a:stretch>
          </a:blipFill>
        </p:spPr>
        <p:txBody>
          <a:bodyPr/>
          <a:lstStyle/>
          <a:p>
            <a:endParaRPr lang="en-GB"/>
          </a:p>
        </p:txBody>
      </p:sp>
      <p:sp>
        <p:nvSpPr>
          <p:cNvPr id="4" name="TextBox 4"/>
          <p:cNvSpPr txBox="1"/>
          <p:nvPr/>
        </p:nvSpPr>
        <p:spPr>
          <a:xfrm>
            <a:off x="1350041" y="870425"/>
            <a:ext cx="8050880"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Random Forest and XG-Boost</a:t>
            </a:r>
          </a:p>
        </p:txBody>
      </p:sp>
      <p:sp>
        <p:nvSpPr>
          <p:cNvPr id="5" name="TextBox 5"/>
          <p:cNvSpPr txBox="1"/>
          <p:nvPr/>
        </p:nvSpPr>
        <p:spPr>
          <a:xfrm>
            <a:off x="4160486" y="3251021"/>
            <a:ext cx="11765604" cy="2887980"/>
          </a:xfrm>
          <a:prstGeom prst="rect">
            <a:avLst/>
          </a:prstGeom>
        </p:spPr>
        <p:txBody>
          <a:bodyPr lIns="0" tIns="0" rIns="0" bIns="0" rtlCol="0" anchor="t">
            <a:spAutoFit/>
          </a:bodyPr>
          <a:lstStyle/>
          <a:p>
            <a:pPr algn="l">
              <a:lnSpc>
                <a:spcPts val="4620"/>
              </a:lnSpc>
              <a:spcBef>
                <a:spcPct val="0"/>
              </a:spcBef>
            </a:pPr>
            <a:endParaRPr/>
          </a:p>
          <a:p>
            <a:pPr marL="712470" lvl="1" indent="-356235" algn="l">
              <a:lnSpc>
                <a:spcPts val="4620"/>
              </a:lnSpc>
              <a:buFont typeface="Arial"/>
              <a:buChar char="•"/>
            </a:pPr>
            <a:r>
              <a:rPr lang="en-US" sz="3300" b="1">
                <a:solidFill>
                  <a:srgbClr val="000000"/>
                </a:solidFill>
                <a:latin typeface="Canva Sans Bold"/>
                <a:ea typeface="Canva Sans Bold"/>
                <a:cs typeface="Canva Sans Bold"/>
                <a:sym typeface="Canva Sans Bold"/>
              </a:rPr>
              <a:t>XGBoost: builds trees one after another, each one correcting the mistakes of the last often very accurate, but more complex to tune</a:t>
            </a:r>
          </a:p>
          <a:p>
            <a:pPr algn="l">
              <a:lnSpc>
                <a:spcPts val="4620"/>
              </a:lnSpc>
              <a:spcBef>
                <a:spcPct val="0"/>
              </a:spcBef>
            </a:pPr>
            <a:endParaRPr lang="en-US" sz="3300" b="1">
              <a:solidFill>
                <a:srgbClr val="000000"/>
              </a:solidFill>
              <a:latin typeface="Canva Sans Bold"/>
              <a:ea typeface="Canva Sans Bold"/>
              <a:cs typeface="Canva Sans Bold"/>
              <a:sym typeface="Canva Sans Bold"/>
            </a:endParaRPr>
          </a:p>
        </p:txBody>
      </p:sp>
      <p:sp>
        <p:nvSpPr>
          <p:cNvPr id="6" name="TextBox 6"/>
          <p:cNvSpPr txBox="1"/>
          <p:nvPr/>
        </p:nvSpPr>
        <p:spPr>
          <a:xfrm>
            <a:off x="1855120" y="1963779"/>
            <a:ext cx="15091603" cy="1144905"/>
          </a:xfrm>
          <a:prstGeom prst="rect">
            <a:avLst/>
          </a:prstGeom>
        </p:spPr>
        <p:txBody>
          <a:bodyPr lIns="0" tIns="0" rIns="0" bIns="0" rtlCol="0" anchor="t">
            <a:spAutoFit/>
          </a:bodyPr>
          <a:lstStyle/>
          <a:p>
            <a:pPr marL="712470" lvl="1" indent="-356235" algn="l">
              <a:lnSpc>
                <a:spcPts val="4620"/>
              </a:lnSpc>
              <a:buFont typeface="Arial"/>
              <a:buChar char="•"/>
            </a:pPr>
            <a:r>
              <a:rPr lang="en-US" sz="3300" b="1" dirty="0">
                <a:solidFill>
                  <a:srgbClr val="000000"/>
                </a:solidFill>
                <a:latin typeface="Canva Sans Bold"/>
                <a:ea typeface="Canva Sans Bold"/>
                <a:cs typeface="Canva Sans Bold"/>
                <a:sym typeface="Canva Sans Bold"/>
              </a:rPr>
              <a:t> Random Forest: builds many decision trees and averages their predictions more stable, usually more accurate than one tree</a:t>
            </a:r>
          </a:p>
        </p:txBody>
      </p:sp>
      <p:sp>
        <p:nvSpPr>
          <p:cNvPr id="7" name="TextBox 7"/>
          <p:cNvSpPr txBox="1"/>
          <p:nvPr/>
        </p:nvSpPr>
        <p:spPr>
          <a:xfrm>
            <a:off x="2146860" y="6281338"/>
            <a:ext cx="12616921" cy="563880"/>
          </a:xfrm>
          <a:prstGeom prst="rect">
            <a:avLst/>
          </a:prstGeom>
        </p:spPr>
        <p:txBody>
          <a:bodyPr lIns="0" tIns="0" rIns="0" bIns="0" rtlCol="0" anchor="t">
            <a:spAutoFit/>
          </a:bodyPr>
          <a:lstStyle/>
          <a:p>
            <a:pPr marL="712470" lvl="1" indent="-356235" algn="l">
              <a:lnSpc>
                <a:spcPts val="4620"/>
              </a:lnSpc>
              <a:buFont typeface="Arial"/>
              <a:buChar char="•"/>
            </a:pPr>
            <a:r>
              <a:rPr lang="en-US" sz="3300" b="1">
                <a:solidFill>
                  <a:srgbClr val="000000"/>
                </a:solidFill>
                <a:latin typeface="Canva Sans Bold"/>
                <a:ea typeface="Canva Sans Bold"/>
                <a:cs typeface="Canva Sans Bold"/>
                <a:sym typeface="Canva Sans Bold"/>
              </a:rPr>
              <a:t>Both are widely used in current health prediction research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619757" y="1908945"/>
            <a:ext cx="11918815" cy="3909695"/>
          </a:xfrm>
          <a:prstGeom prst="rect">
            <a:avLst/>
          </a:prstGeom>
        </p:spPr>
        <p:txBody>
          <a:bodyPr lIns="0" tIns="0" rIns="0" bIns="0" rtlCol="0" anchor="t">
            <a:spAutoFit/>
          </a:bodyPr>
          <a:lstStyle/>
          <a:p>
            <a:pPr algn="l">
              <a:lnSpc>
                <a:spcPts val="4480"/>
              </a:lnSpc>
              <a:spcBef>
                <a:spcPct val="0"/>
              </a:spcBef>
            </a:pPr>
            <a:r>
              <a:rPr lang="en-US" sz="3200" b="1">
                <a:solidFill>
                  <a:srgbClr val="15477B"/>
                </a:solidFill>
                <a:latin typeface="Canva Sans Bold"/>
                <a:ea typeface="Canva Sans Bold"/>
                <a:cs typeface="Canva Sans Bold"/>
                <a:sym typeface="Canva Sans Bold"/>
              </a:rPr>
              <a:t>• </a:t>
            </a:r>
            <a:r>
              <a:rPr lang="en-US" sz="3200" b="1">
                <a:solidFill>
                  <a:srgbClr val="000000"/>
                </a:solidFill>
                <a:latin typeface="Canva Sans Bold"/>
                <a:ea typeface="Canva Sans Bold"/>
                <a:cs typeface="Canva Sans Bold"/>
                <a:sym typeface="Canva Sans Bold"/>
              </a:rPr>
              <a:t>Accuracy  % of predictions that were correct overall</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Sensitivity  % of true cases the model correctly identified</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Specificity  % of true non-cases the model correctly identified</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p:txBody>
      </p:sp>
      <p:sp>
        <p:nvSpPr>
          <p:cNvPr id="4" name="Freeform 4"/>
          <p:cNvSpPr/>
          <p:nvPr/>
        </p:nvSpPr>
        <p:spPr>
          <a:xfrm>
            <a:off x="12881954" y="1594012"/>
            <a:ext cx="3883427" cy="3370634"/>
          </a:xfrm>
          <a:custGeom>
            <a:avLst/>
            <a:gdLst/>
            <a:ahLst/>
            <a:cxnLst/>
            <a:rect l="l" t="t" r="r" b="b"/>
            <a:pathLst>
              <a:path w="3883427" h="3370634">
                <a:moveTo>
                  <a:pt x="0" y="0"/>
                </a:moveTo>
                <a:lnTo>
                  <a:pt x="3883427" y="0"/>
                </a:lnTo>
                <a:lnTo>
                  <a:pt x="3883427" y="3370634"/>
                </a:lnTo>
                <a:lnTo>
                  <a:pt x="0" y="3370634"/>
                </a:lnTo>
                <a:lnTo>
                  <a:pt x="0" y="0"/>
                </a:lnTo>
                <a:close/>
              </a:path>
            </a:pathLst>
          </a:custGeom>
          <a:blipFill>
            <a:blip r:embed="rId3"/>
            <a:stretch>
              <a:fillRect t="-70397" r="-2809" b="-41825"/>
            </a:stretch>
          </a:blipFill>
        </p:spPr>
        <p:txBody>
          <a:bodyPr/>
          <a:lstStyle/>
          <a:p>
            <a:endParaRPr lang="en-GB"/>
          </a:p>
        </p:txBody>
      </p:sp>
      <p:sp>
        <p:nvSpPr>
          <p:cNvPr id="5" name="TextBox 5"/>
          <p:cNvSpPr txBox="1"/>
          <p:nvPr/>
        </p:nvSpPr>
        <p:spPr>
          <a:xfrm>
            <a:off x="762000" y="643720"/>
            <a:ext cx="11262197"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How Do We Know If a Model Is Good?</a:t>
            </a:r>
          </a:p>
        </p:txBody>
      </p:sp>
      <p:sp>
        <p:nvSpPr>
          <p:cNvPr id="6" name="TextBox 6"/>
          <p:cNvSpPr txBox="1"/>
          <p:nvPr/>
        </p:nvSpPr>
        <p:spPr>
          <a:xfrm>
            <a:off x="1619757" y="5761490"/>
            <a:ext cx="15639543" cy="2223770"/>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AUC (Area Under the Curve) overall ability to distinguish cases from non-cases (0.5 = no better than chance, 1.0 = perfect)</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Calibration do the predicted risks match the real-world observed risks?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952094" y="1484170"/>
            <a:ext cx="16383811" cy="6157595"/>
          </a:xfrm>
          <a:prstGeom prst="rect">
            <a:avLst/>
          </a:prstGeom>
        </p:spPr>
        <p:txBody>
          <a:bodyPr lIns="0" tIns="0" rIns="0" bIns="0" rtlCol="0" anchor="t">
            <a:spAutoFit/>
          </a:bodyPr>
          <a:lstStyle/>
          <a:p>
            <a:pPr algn="l">
              <a:lnSpc>
                <a:spcPts val="4480"/>
              </a:lnSpc>
              <a:spcBef>
                <a:spcPct val="0"/>
              </a:spcBef>
            </a:pPr>
            <a:r>
              <a:rPr lang="en-US" sz="3200" b="1" dirty="0">
                <a:solidFill>
                  <a:srgbClr val="000000"/>
                </a:solidFill>
                <a:latin typeface="Canva Sans Bold"/>
                <a:ea typeface="Canva Sans Bold"/>
                <a:cs typeface="Canva Sans Bold"/>
                <a:sym typeface="Canva Sans Bold"/>
              </a:rPr>
              <a:t>• More predictors generally require more participants to build a reliable model</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A common rule of thumb: at least 10 outcome "events" per predictor (events-per-parameter, EPP)</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More rigorous methods exist (e.g. Riley et al., 2020) that calculate exact sample size needed based on how many predictors you want and how good you expect the model to be</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Bigger sample size = more reliable, more trustworthy model </a:t>
            </a: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but also more time and cost to collect</a:t>
            </a:r>
          </a:p>
        </p:txBody>
      </p:sp>
      <p:sp>
        <p:nvSpPr>
          <p:cNvPr id="4" name="Freeform 4"/>
          <p:cNvSpPr/>
          <p:nvPr/>
        </p:nvSpPr>
        <p:spPr>
          <a:xfrm>
            <a:off x="11413775" y="6086807"/>
            <a:ext cx="5571935" cy="3109917"/>
          </a:xfrm>
          <a:custGeom>
            <a:avLst/>
            <a:gdLst/>
            <a:ahLst/>
            <a:cxnLst/>
            <a:rect l="l" t="t" r="r" b="b"/>
            <a:pathLst>
              <a:path w="5571935" h="3109917">
                <a:moveTo>
                  <a:pt x="0" y="0"/>
                </a:moveTo>
                <a:lnTo>
                  <a:pt x="5571935" y="0"/>
                </a:lnTo>
                <a:lnTo>
                  <a:pt x="5571935" y="3109917"/>
                </a:lnTo>
                <a:lnTo>
                  <a:pt x="0" y="3109917"/>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426800" y="290194"/>
            <a:ext cx="9021999"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How Much Data Do We Need?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371600" y="5448300"/>
            <a:ext cx="14325599" cy="2847061"/>
          </a:xfrm>
          <a:prstGeom prst="rect">
            <a:avLst/>
          </a:prstGeom>
        </p:spPr>
        <p:txBody>
          <a:bodyPr wrap="square" lIns="0" tIns="0" rIns="0" bIns="0" rtlCol="0" anchor="t">
            <a:spAutoFit/>
          </a:bodyPr>
          <a:lstStyle/>
          <a:p>
            <a:pPr algn="l">
              <a:lnSpc>
                <a:spcPts val="4480"/>
              </a:lnSpc>
              <a:spcBef>
                <a:spcPct val="0"/>
              </a:spcBef>
            </a:pPr>
            <a:r>
              <a:rPr lang="en-US" sz="3200" b="1" dirty="0">
                <a:solidFill>
                  <a:srgbClr val="000000"/>
                </a:solidFill>
                <a:latin typeface="Canva Sans Bold"/>
                <a:ea typeface="Canva Sans Bold"/>
                <a:cs typeface="Canva Sans Bold"/>
                <a:sym typeface="Canva Sans Bold"/>
              </a:rPr>
              <a:t>• More predictors generally require more participants to </a:t>
            </a: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build a reliable model</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Bigger sample size = more reliable, more trustworthy model — but also more time and cost to collect</a:t>
            </a:r>
          </a:p>
        </p:txBody>
      </p:sp>
      <p:sp>
        <p:nvSpPr>
          <p:cNvPr id="4" name="Freeform 4"/>
          <p:cNvSpPr/>
          <p:nvPr/>
        </p:nvSpPr>
        <p:spPr>
          <a:xfrm>
            <a:off x="6096000" y="1578506"/>
            <a:ext cx="3367288" cy="3271080"/>
          </a:xfrm>
          <a:custGeom>
            <a:avLst/>
            <a:gdLst/>
            <a:ahLst/>
            <a:cxnLst/>
            <a:rect l="l" t="t" r="r" b="b"/>
            <a:pathLst>
              <a:path w="3367288" h="3271080">
                <a:moveTo>
                  <a:pt x="0" y="0"/>
                </a:moveTo>
                <a:lnTo>
                  <a:pt x="3367288" y="0"/>
                </a:lnTo>
                <a:lnTo>
                  <a:pt x="3367288" y="3271079"/>
                </a:lnTo>
                <a:lnTo>
                  <a:pt x="0" y="3271079"/>
                </a:lnTo>
                <a:lnTo>
                  <a:pt x="0" y="0"/>
                </a:lnTo>
                <a:close/>
              </a:path>
            </a:pathLst>
          </a:custGeom>
          <a:blipFill>
            <a:blip r:embed="rId3"/>
            <a:stretch>
              <a:fillRect l="-41819" t="-1681" r="-42631" b="-4295"/>
            </a:stretch>
          </a:blipFill>
        </p:spPr>
        <p:txBody>
          <a:bodyPr/>
          <a:lstStyle/>
          <a:p>
            <a:endParaRPr lang="en-GB"/>
          </a:p>
        </p:txBody>
      </p:sp>
      <p:sp>
        <p:nvSpPr>
          <p:cNvPr id="5" name="TextBox 5"/>
          <p:cNvSpPr txBox="1"/>
          <p:nvPr/>
        </p:nvSpPr>
        <p:spPr>
          <a:xfrm>
            <a:off x="1028700" y="616585"/>
            <a:ext cx="12611100"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Case Study Intro (Dementia Risk in Indonesia)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p:cNvSpPr/>
          <p:nvPr/>
        </p:nvSpPr>
        <p:spPr>
          <a:xfrm>
            <a:off x="12711619" y="3158942"/>
            <a:ext cx="3912565" cy="3294791"/>
          </a:xfrm>
          <a:custGeom>
            <a:avLst/>
            <a:gdLst/>
            <a:ahLst/>
            <a:cxnLst/>
            <a:rect l="l" t="t" r="r" b="b"/>
            <a:pathLst>
              <a:path w="3912565" h="3294791">
                <a:moveTo>
                  <a:pt x="0" y="0"/>
                </a:moveTo>
                <a:lnTo>
                  <a:pt x="3912565" y="0"/>
                </a:lnTo>
                <a:lnTo>
                  <a:pt x="3912565" y="3294792"/>
                </a:lnTo>
                <a:lnTo>
                  <a:pt x="0" y="3294792"/>
                </a:lnTo>
                <a:lnTo>
                  <a:pt x="0" y="0"/>
                </a:lnTo>
                <a:close/>
              </a:path>
            </a:pathLst>
          </a:custGeom>
          <a:blipFill>
            <a:blip r:embed="rId3"/>
            <a:stretch>
              <a:fillRect l="-10808" t="-93290" r="-9200" b="-62040"/>
            </a:stretch>
          </a:blipFill>
        </p:spPr>
        <p:txBody>
          <a:bodyPr/>
          <a:lstStyle/>
          <a:p>
            <a:endParaRPr lang="en-GB"/>
          </a:p>
        </p:txBody>
      </p:sp>
      <p:sp>
        <p:nvSpPr>
          <p:cNvPr id="4" name="TextBox 4"/>
          <p:cNvSpPr txBox="1"/>
          <p:nvPr/>
        </p:nvSpPr>
        <p:spPr>
          <a:xfrm>
            <a:off x="685800" y="791682"/>
            <a:ext cx="13716133"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Case Study: Dementia Risk Prediction in Indonesia</a:t>
            </a:r>
          </a:p>
        </p:txBody>
      </p:sp>
      <p:sp>
        <p:nvSpPr>
          <p:cNvPr id="5" name="TextBox 5"/>
          <p:cNvSpPr txBox="1"/>
          <p:nvPr/>
        </p:nvSpPr>
        <p:spPr>
          <a:xfrm>
            <a:off x="1028700" y="2166960"/>
            <a:ext cx="15048689" cy="6450740"/>
          </a:xfrm>
          <a:prstGeom prst="rect">
            <a:avLst/>
          </a:prstGeom>
        </p:spPr>
        <p:txBody>
          <a:bodyPr lIns="0" tIns="0" rIns="0" bIns="0" rtlCol="0" anchor="t">
            <a:spAutoFit/>
          </a:bodyPr>
          <a:lstStyle/>
          <a:p>
            <a:pPr algn="l">
              <a:lnSpc>
                <a:spcPts val="4620"/>
              </a:lnSpc>
              <a:spcBef>
                <a:spcPct val="0"/>
              </a:spcBef>
            </a:pPr>
            <a:r>
              <a:rPr lang="en-US" sz="3300" b="1" dirty="0">
                <a:solidFill>
                  <a:srgbClr val="15477B"/>
                </a:solidFill>
                <a:latin typeface="Canva Sans Bold"/>
                <a:ea typeface="Canva Sans Bold"/>
                <a:cs typeface="Canva Sans Bold"/>
                <a:sym typeface="Canva Sans Bold"/>
              </a:rPr>
              <a:t>•</a:t>
            </a:r>
            <a:r>
              <a:rPr lang="en-US" sz="3300" b="1" dirty="0">
                <a:solidFill>
                  <a:srgbClr val="000000"/>
                </a:solidFill>
                <a:latin typeface="Canva Sans Bold"/>
                <a:ea typeface="Canva Sans Bold"/>
                <a:cs typeface="Canva Sans Bold"/>
                <a:sym typeface="Canva Sans Bold"/>
              </a:rPr>
              <a:t> Motivation: dementia risk models exist mostly for high-income, Western populations</a:t>
            </a:r>
          </a:p>
          <a:p>
            <a:pPr algn="l">
              <a:lnSpc>
                <a:spcPts val="4620"/>
              </a:lnSpc>
              <a:spcBef>
                <a:spcPct val="0"/>
              </a:spcBef>
            </a:pPr>
            <a:endParaRPr lang="en-US" sz="3300" b="1" dirty="0">
              <a:solidFill>
                <a:srgbClr val="000000"/>
              </a:solidFill>
              <a:latin typeface="Canva Sans Bold"/>
              <a:ea typeface="Canva Sans Bold"/>
              <a:cs typeface="Canva Sans Bold"/>
              <a:sym typeface="Canva Sans Bold"/>
            </a:endParaRPr>
          </a:p>
          <a:p>
            <a:pPr algn="l">
              <a:lnSpc>
                <a:spcPts val="4620"/>
              </a:lnSpc>
              <a:spcBef>
                <a:spcPct val="0"/>
              </a:spcBef>
            </a:pPr>
            <a:endParaRPr lang="en-US" sz="3300" b="1" dirty="0">
              <a:solidFill>
                <a:srgbClr val="000000"/>
              </a:solidFill>
              <a:latin typeface="Canva Sans Bold"/>
              <a:ea typeface="Canva Sans Bold"/>
              <a:cs typeface="Canva Sans Bold"/>
              <a:sym typeface="Canva Sans Bold"/>
            </a:endParaRP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A 2024 systematic review found almost no validated </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dementia risk models developed specifically for low- and </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middle-income countries, including Indonesia</a:t>
            </a:r>
          </a:p>
          <a:p>
            <a:pPr algn="l">
              <a:lnSpc>
                <a:spcPts val="4620"/>
              </a:lnSpc>
              <a:spcBef>
                <a:spcPct val="0"/>
              </a:spcBef>
            </a:pPr>
            <a:endParaRPr lang="en-US" sz="3300" b="1" dirty="0">
              <a:solidFill>
                <a:srgbClr val="000000"/>
              </a:solidFill>
              <a:latin typeface="Canva Sans Bold"/>
              <a:ea typeface="Canva Sans Bold"/>
              <a:cs typeface="Canva Sans Bold"/>
              <a:sym typeface="Canva Sans Bold"/>
            </a:endParaRPr>
          </a:p>
          <a:p>
            <a:pPr algn="l">
              <a:lnSpc>
                <a:spcPts val="4620"/>
              </a:lnSpc>
              <a:spcBef>
                <a:spcPct val="0"/>
              </a:spcBef>
            </a:pPr>
            <a:endParaRPr lang="en-US" sz="3300" b="1" dirty="0">
              <a:solidFill>
                <a:srgbClr val="000000"/>
              </a:solidFill>
              <a:latin typeface="Canva Sans Bold"/>
              <a:ea typeface="Canva Sans Bold"/>
              <a:cs typeface="Canva Sans Bold"/>
              <a:sym typeface="Canva Sans Bold"/>
            </a:endParaRP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Our project: build and test a dementia risk model using data from two hospitals in Indonesia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7275" y="616585"/>
            <a:ext cx="6779683" cy="738506"/>
          </a:xfrm>
          <a:prstGeom prst="rect">
            <a:avLst/>
          </a:prstGeom>
        </p:spPr>
        <p:txBody>
          <a:bodyPr lIns="0" tIns="0" rIns="0" bIns="0" rtlCol="0" anchor="t">
            <a:spAutoFit/>
          </a:bodyPr>
          <a:lstStyle/>
          <a:p>
            <a:pPr algn="ctr">
              <a:lnSpc>
                <a:spcPts val="6019"/>
              </a:lnSpc>
              <a:spcBef>
                <a:spcPct val="0"/>
              </a:spcBef>
            </a:pPr>
            <a:r>
              <a:rPr lang="en-US" sz="4299" b="1">
                <a:solidFill>
                  <a:srgbClr val="15477B"/>
                </a:solidFill>
                <a:latin typeface="Canva Sans Bold"/>
                <a:ea typeface="Canva Sans Bold"/>
                <a:cs typeface="Canva Sans Bold"/>
                <a:sym typeface="Canva Sans Bold"/>
              </a:rPr>
              <a:t>Case Study: Study Design</a:t>
            </a:r>
          </a:p>
        </p:txBody>
      </p:sp>
      <p:sp>
        <p:nvSpPr>
          <p:cNvPr id="3" name="TextBox 3"/>
          <p:cNvSpPr txBox="1"/>
          <p:nvPr/>
        </p:nvSpPr>
        <p:spPr>
          <a:xfrm>
            <a:off x="1267275" y="1948666"/>
            <a:ext cx="12794304" cy="6309548"/>
          </a:xfrm>
          <a:prstGeom prst="rect">
            <a:avLst/>
          </a:prstGeom>
        </p:spPr>
        <p:txBody>
          <a:bodyPr lIns="0" tIns="0" rIns="0" bIns="0" rtlCol="0" anchor="t">
            <a:spAutoFit/>
          </a:bodyPr>
          <a:lstStyle/>
          <a:p>
            <a:pPr algn="l">
              <a:lnSpc>
                <a:spcPts val="4480"/>
              </a:lnSpc>
              <a:spcBef>
                <a:spcPct val="0"/>
              </a:spcBef>
            </a:pPr>
            <a:r>
              <a:rPr lang="en-US" sz="3200" b="1" dirty="0">
                <a:solidFill>
                  <a:srgbClr val="15477B"/>
                </a:solidFill>
                <a:latin typeface="Canva Sans Bold"/>
                <a:ea typeface="Canva Sans Bold"/>
                <a:cs typeface="Canva Sans Bold"/>
                <a:sym typeface="Canva Sans Bold"/>
              </a:rPr>
              <a:t>•</a:t>
            </a:r>
            <a:r>
              <a:rPr lang="en-US" sz="3200" b="1" dirty="0">
                <a:solidFill>
                  <a:srgbClr val="000000"/>
                </a:solidFill>
                <a:latin typeface="Canva Sans Bold"/>
                <a:ea typeface="Canva Sans Bold"/>
                <a:cs typeface="Canva Sans Bold"/>
                <a:sym typeface="Canva Sans Bold"/>
              </a:rPr>
              <a:t> Design: cross-sectional (single visit per participant) practical for one funding cycle</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Setting: two hospitals in Indonesia</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Predictors: demographic, clinical, lifestyle, </a:t>
            </a: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socioeconomic, and family history information </a:t>
            </a: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(~20–30 variables)</a:t>
            </a:r>
          </a:p>
          <a:p>
            <a:pPr algn="l">
              <a:lnSpc>
                <a:spcPts val="4480"/>
              </a:lnSpc>
              <a:spcBef>
                <a:spcPct val="0"/>
              </a:spcBef>
            </a:pPr>
            <a:endParaRPr lang="en-US" sz="3200" b="1" dirty="0">
              <a:solidFill>
                <a:srgbClr val="000000"/>
              </a:solidFill>
              <a:latin typeface="Canva Sans Bold"/>
              <a:ea typeface="Canva Sans Bold"/>
              <a:cs typeface="Canva Sans Bold"/>
              <a:sym typeface="Canva Sans Bold"/>
            </a:endParaRPr>
          </a:p>
          <a:p>
            <a:pPr algn="l">
              <a:lnSpc>
                <a:spcPts val="4480"/>
              </a:lnSpc>
              <a:spcBef>
                <a:spcPct val="0"/>
              </a:spcBef>
            </a:pPr>
            <a:r>
              <a:rPr lang="en-US" sz="3200" b="1" dirty="0">
                <a:solidFill>
                  <a:srgbClr val="000000"/>
                </a:solidFill>
                <a:latin typeface="Canva Sans Bold"/>
                <a:ea typeface="Canva Sans Bold"/>
                <a:cs typeface="Canva Sans Bold"/>
                <a:sym typeface="Canva Sans Bold"/>
              </a:rPr>
              <a:t>• Outcome: current cognitive impairment status, measured using a validated screening tool (MMSE/MoCA)</a:t>
            </a:r>
          </a:p>
        </p:txBody>
      </p:sp>
      <p:pic>
        <p:nvPicPr>
          <p:cNvPr id="4" name="Picture 3">
            <a:extLst>
              <a:ext uri="{FF2B5EF4-FFF2-40B4-BE49-F238E27FC236}">
                <a16:creationId xmlns:a16="http://schemas.microsoft.com/office/drawing/2014/main" id="{CDB5F3C8-8677-F111-8C77-8629117AD5BE}"/>
              </a:ext>
            </a:extLst>
          </p:cNvPr>
          <p:cNvPicPr>
            <a:picLocks noChangeAspect="1"/>
          </p:cNvPicPr>
          <p:nvPr/>
        </p:nvPicPr>
        <p:blipFill>
          <a:blip r:embed="rId2"/>
          <a:srcRect l="40184" t="19455" r="26278" b="10727"/>
          <a:stretch>
            <a:fillRect/>
          </a:stretch>
        </p:blipFill>
        <p:spPr>
          <a:xfrm>
            <a:off x="10744200" y="2628900"/>
            <a:ext cx="3124200" cy="3657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p:cNvSpPr/>
          <p:nvPr/>
        </p:nvSpPr>
        <p:spPr>
          <a:xfrm>
            <a:off x="15278505" y="6522396"/>
            <a:ext cx="2254385" cy="2735904"/>
          </a:xfrm>
          <a:custGeom>
            <a:avLst/>
            <a:gdLst/>
            <a:ahLst/>
            <a:cxnLst/>
            <a:rect l="l" t="t" r="r" b="b"/>
            <a:pathLst>
              <a:path w="2254385" h="2735904">
                <a:moveTo>
                  <a:pt x="0" y="0"/>
                </a:moveTo>
                <a:lnTo>
                  <a:pt x="2254385" y="0"/>
                </a:lnTo>
                <a:lnTo>
                  <a:pt x="2254385" y="2735904"/>
                </a:lnTo>
                <a:lnTo>
                  <a:pt x="0" y="2735904"/>
                </a:lnTo>
                <a:lnTo>
                  <a:pt x="0" y="0"/>
                </a:lnTo>
                <a:close/>
              </a:path>
            </a:pathLst>
          </a:custGeom>
          <a:blipFill>
            <a:blip r:embed="rId3"/>
            <a:stretch>
              <a:fillRect l="-50901" t="-92329" r="-26198" b="-69129"/>
            </a:stretch>
          </a:blipFill>
        </p:spPr>
        <p:txBody>
          <a:bodyPr/>
          <a:lstStyle/>
          <a:p>
            <a:endParaRPr lang="en-GB"/>
          </a:p>
        </p:txBody>
      </p:sp>
      <p:sp>
        <p:nvSpPr>
          <p:cNvPr id="4" name="TextBox 4"/>
          <p:cNvSpPr txBox="1"/>
          <p:nvPr/>
        </p:nvSpPr>
        <p:spPr>
          <a:xfrm>
            <a:off x="1028700" y="727074"/>
            <a:ext cx="16048299" cy="1442580"/>
          </a:xfrm>
          <a:prstGeom prst="rect">
            <a:avLst/>
          </a:prstGeom>
        </p:spPr>
        <p:txBody>
          <a:bodyPr lIns="0" tIns="0" rIns="0" bIns="0" rtlCol="0" anchor="t">
            <a:spAutoFit/>
          </a:bodyPr>
          <a:lstStyle/>
          <a:p>
            <a:pPr algn="l">
              <a:lnSpc>
                <a:spcPts val="5814"/>
              </a:lnSpc>
              <a:spcBef>
                <a:spcPct val="0"/>
              </a:spcBef>
            </a:pPr>
            <a:r>
              <a:rPr lang="en-US" sz="4152" b="1">
                <a:solidFill>
                  <a:srgbClr val="15477B"/>
                </a:solidFill>
                <a:latin typeface="Canva Sans Bold"/>
                <a:ea typeface="Canva Sans Bold"/>
                <a:cs typeface="Canva Sans Bold"/>
                <a:sym typeface="Canva Sans Bold"/>
              </a:rPr>
              <a:t>Case Study: Three Connected Analyses from One Data Collection</a:t>
            </a:r>
          </a:p>
        </p:txBody>
      </p:sp>
      <p:sp>
        <p:nvSpPr>
          <p:cNvPr id="5" name="TextBox 5"/>
          <p:cNvSpPr txBox="1"/>
          <p:nvPr/>
        </p:nvSpPr>
        <p:spPr>
          <a:xfrm>
            <a:off x="1028700" y="2736606"/>
            <a:ext cx="15683419" cy="5033645"/>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1. Classification models (Decision Tree, Random Forest, XGBoost)  predict who currently has cognitive impairment</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2. Association rule mining (apriori algorithm)  find which combinations of risk factors most often occur together</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3. Decline-trajectory modelling using an informant-reported questionnaire (IQCODE) to estimate 10-year cognitive decline, without needing years of follow-up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66800" y="608625"/>
            <a:ext cx="5290461"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Key Takeaways</a:t>
            </a:r>
          </a:p>
        </p:txBody>
      </p:sp>
      <p:sp>
        <p:nvSpPr>
          <p:cNvPr id="4" name="TextBox 4"/>
          <p:cNvSpPr txBox="1"/>
          <p:nvPr/>
        </p:nvSpPr>
        <p:spPr>
          <a:xfrm>
            <a:off x="1567538" y="1923097"/>
            <a:ext cx="15425061" cy="6450740"/>
          </a:xfrm>
          <a:prstGeom prst="rect">
            <a:avLst/>
          </a:prstGeom>
        </p:spPr>
        <p:txBody>
          <a:bodyPr wrap="square" lIns="0" tIns="0" rIns="0" bIns="0" rtlCol="0" anchor="t">
            <a:spAutoFit/>
          </a:bodyPr>
          <a:lstStyle/>
          <a:p>
            <a:pPr algn="l">
              <a:lnSpc>
                <a:spcPts val="4620"/>
              </a:lnSpc>
              <a:spcBef>
                <a:spcPct val="0"/>
              </a:spcBef>
            </a:pPr>
            <a:r>
              <a:rPr lang="en-US" sz="3300" b="1" dirty="0">
                <a:solidFill>
                  <a:srgbClr val="000000"/>
                </a:solidFill>
                <a:latin typeface="Canva Sans Bold"/>
                <a:ea typeface="Canva Sans Bold"/>
                <a:cs typeface="Canva Sans Bold"/>
                <a:sym typeface="Canva Sans Bold"/>
              </a:rPr>
              <a:t>• A prediction model turns known information (predictors) into an estimate of an unknown outcome</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Good models are tested on data they haven't seen, not just the data they were built on</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Tree-based ML models (Decision Tree, Random Forest, </a:t>
            </a:r>
            <a:r>
              <a:rPr lang="en-US" sz="3300" b="1" dirty="0" err="1">
                <a:solidFill>
                  <a:srgbClr val="000000"/>
                </a:solidFill>
                <a:latin typeface="Canva Sans Bold"/>
                <a:ea typeface="Canva Sans Bold"/>
                <a:cs typeface="Canva Sans Bold"/>
                <a:sym typeface="Canva Sans Bold"/>
              </a:rPr>
              <a:t>XGBoost</a:t>
            </a:r>
            <a:r>
              <a:rPr lang="en-US" sz="3300" b="1" dirty="0">
                <a:solidFill>
                  <a:srgbClr val="000000"/>
                </a:solidFill>
                <a:latin typeface="Canva Sans Bold"/>
                <a:ea typeface="Canva Sans Bold"/>
                <a:cs typeface="Canva Sans Bold"/>
                <a:sym typeface="Canva Sans Bold"/>
              </a:rPr>
              <a:t>) are widely used in current health research and balance accuracy with interpretability</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Sample size matters  more predictors need more participants, and there are formal methods to calculate exactly how many</a:t>
            </a:r>
          </a:p>
          <a:p>
            <a:pPr algn="l">
              <a:lnSpc>
                <a:spcPts val="4620"/>
              </a:lnSpc>
              <a:spcBef>
                <a:spcPct val="0"/>
              </a:spcBef>
            </a:pPr>
            <a:r>
              <a:rPr lang="en-US" sz="3300" b="1" dirty="0">
                <a:solidFill>
                  <a:srgbClr val="000000"/>
                </a:solidFill>
                <a:latin typeface="Canva Sans Bold"/>
                <a:ea typeface="Canva Sans Bold"/>
                <a:cs typeface="Canva Sans Bold"/>
                <a:sym typeface="Canva Sans Bold"/>
              </a:rPr>
              <a:t>• Real research gaps (like dementia prediction in Indonesia) are genuine opportunities for new, useful research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p:cNvSpPr/>
          <p:nvPr/>
        </p:nvSpPr>
        <p:spPr>
          <a:xfrm>
            <a:off x="12541385" y="3116441"/>
            <a:ext cx="2700964" cy="5547621"/>
          </a:xfrm>
          <a:custGeom>
            <a:avLst/>
            <a:gdLst/>
            <a:ahLst/>
            <a:cxnLst/>
            <a:rect l="l" t="t" r="r" b="b"/>
            <a:pathLst>
              <a:path w="2700964" h="5547621">
                <a:moveTo>
                  <a:pt x="0" y="0"/>
                </a:moveTo>
                <a:lnTo>
                  <a:pt x="2700964" y="0"/>
                </a:lnTo>
                <a:lnTo>
                  <a:pt x="2700964" y="5547621"/>
                </a:lnTo>
                <a:lnTo>
                  <a:pt x="0" y="5547621"/>
                </a:lnTo>
                <a:lnTo>
                  <a:pt x="0" y="0"/>
                </a:lnTo>
                <a:close/>
              </a:path>
            </a:pathLst>
          </a:custGeom>
          <a:blipFill>
            <a:blip r:embed="rId3"/>
            <a:stretch>
              <a:fillRect l="-140882" t="-4560" r="-143899"/>
            </a:stretch>
          </a:blipFill>
        </p:spPr>
        <p:txBody>
          <a:bodyPr/>
          <a:lstStyle/>
          <a:p>
            <a:endParaRPr lang="en-GB"/>
          </a:p>
        </p:txBody>
      </p:sp>
      <p:sp>
        <p:nvSpPr>
          <p:cNvPr id="4" name="TextBox 4"/>
          <p:cNvSpPr txBox="1"/>
          <p:nvPr/>
        </p:nvSpPr>
        <p:spPr>
          <a:xfrm>
            <a:off x="1575881" y="2700295"/>
            <a:ext cx="16121164" cy="3909695"/>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What outcome would you want to predict in your own area of interest?</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What predictors do you think would matter most, and why</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Would a simple model (logistic regression) or </a:t>
            </a:r>
          </a:p>
          <a:p>
            <a:pPr algn="l">
              <a:lnSpc>
                <a:spcPts val="4480"/>
              </a:lnSpc>
              <a:spcBef>
                <a:spcPct val="0"/>
              </a:spcBef>
            </a:pPr>
            <a:r>
              <a:rPr lang="en-US" sz="3200" b="1">
                <a:solidFill>
                  <a:srgbClr val="000000"/>
                </a:solidFill>
                <a:latin typeface="Canva Sans Bold"/>
                <a:ea typeface="Canva Sans Bold"/>
                <a:cs typeface="Canva Sans Bold"/>
                <a:sym typeface="Canva Sans Bold"/>
              </a:rPr>
              <a:t>a more complex one (Random Forest) suit your </a:t>
            </a:r>
          </a:p>
          <a:p>
            <a:pPr algn="l">
              <a:lnSpc>
                <a:spcPts val="4480"/>
              </a:lnSpc>
              <a:spcBef>
                <a:spcPct val="0"/>
              </a:spcBef>
            </a:pPr>
            <a:r>
              <a:rPr lang="en-US" sz="3200" b="1">
                <a:solidFill>
                  <a:srgbClr val="000000"/>
                </a:solidFill>
                <a:latin typeface="Canva Sans Bold"/>
                <a:ea typeface="Canva Sans Bold"/>
                <a:cs typeface="Canva Sans Bold"/>
                <a:sym typeface="Canva Sans Bold"/>
              </a:rPr>
              <a:t>question better?</a:t>
            </a:r>
          </a:p>
        </p:txBody>
      </p:sp>
      <p:sp>
        <p:nvSpPr>
          <p:cNvPr id="5" name="TextBox 5"/>
          <p:cNvSpPr txBox="1"/>
          <p:nvPr/>
        </p:nvSpPr>
        <p:spPr>
          <a:xfrm>
            <a:off x="762000" y="1257300"/>
            <a:ext cx="8244191"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Questions to Think About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280403" y="1812479"/>
            <a:ext cx="15727194" cy="6157595"/>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Canva Sans Bold"/>
                <a:ea typeface="Canva Sans Bold"/>
                <a:cs typeface="Canva Sans Bold"/>
                <a:sym typeface="Canva Sans Bold"/>
              </a:rPr>
              <a:t>• Riley, R. D., Ensor, J., Snell, K. I. E., et al. (2020). Calculating the sample size required for developing a clinical prediction model. BMJ, 368, m441.</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Brain, J., Kafadar, A. H., Errington, L., et al. (2024). </a:t>
            </a:r>
          </a:p>
          <a:p>
            <a:pPr algn="l">
              <a:lnSpc>
                <a:spcPts val="4480"/>
              </a:lnSpc>
              <a:spcBef>
                <a:spcPct val="0"/>
              </a:spcBef>
            </a:pPr>
            <a:r>
              <a:rPr lang="en-US" sz="3200" b="1">
                <a:solidFill>
                  <a:srgbClr val="000000"/>
                </a:solidFill>
                <a:latin typeface="Canva Sans Bold"/>
                <a:ea typeface="Canva Sans Bold"/>
                <a:cs typeface="Canva Sans Bold"/>
                <a:sym typeface="Canva Sans Bold"/>
              </a:rPr>
              <a:t>What's new in dementia risk prediction modelling? </a:t>
            </a:r>
          </a:p>
          <a:p>
            <a:pPr algn="l">
              <a:lnSpc>
                <a:spcPts val="4480"/>
              </a:lnSpc>
              <a:spcBef>
                <a:spcPct val="0"/>
              </a:spcBef>
            </a:pPr>
            <a:r>
              <a:rPr lang="en-US" sz="3200" b="1">
                <a:solidFill>
                  <a:srgbClr val="000000"/>
                </a:solidFill>
                <a:latin typeface="Canva Sans Bold"/>
                <a:ea typeface="Canva Sans Bold"/>
                <a:cs typeface="Canva Sans Bold"/>
                <a:sym typeface="Canva Sans Bold"/>
              </a:rPr>
              <a:t>An updated systematic review. Dementia and </a:t>
            </a:r>
          </a:p>
          <a:p>
            <a:pPr algn="l">
              <a:lnSpc>
                <a:spcPts val="4480"/>
              </a:lnSpc>
              <a:spcBef>
                <a:spcPct val="0"/>
              </a:spcBef>
            </a:pPr>
            <a:r>
              <a:rPr lang="en-US" sz="3200" b="1">
                <a:solidFill>
                  <a:srgbClr val="000000"/>
                </a:solidFill>
                <a:latin typeface="Canva Sans Bold"/>
                <a:ea typeface="Canva Sans Bold"/>
                <a:cs typeface="Canva Sans Bold"/>
                <a:sym typeface="Canva Sans Bold"/>
              </a:rPr>
              <a:t>Geriatric Cognitive Disorders Extra, 14, 49–74.</a:t>
            </a:r>
          </a:p>
          <a:p>
            <a:pPr algn="l">
              <a:lnSpc>
                <a:spcPts val="4480"/>
              </a:lnSpc>
              <a:spcBef>
                <a:spcPct val="0"/>
              </a:spcBef>
            </a:pPr>
            <a:endParaRPr lang="en-US" sz="3200" b="1">
              <a:solidFill>
                <a:srgbClr val="000000"/>
              </a:solidFill>
              <a:latin typeface="Canva Sans Bold"/>
              <a:ea typeface="Canva Sans Bold"/>
              <a:cs typeface="Canva Sans Bold"/>
              <a:sym typeface="Canva Sans Bold"/>
            </a:endParaRPr>
          </a:p>
          <a:p>
            <a:pPr algn="l">
              <a:lnSpc>
                <a:spcPts val="4480"/>
              </a:lnSpc>
              <a:spcBef>
                <a:spcPct val="0"/>
              </a:spcBef>
            </a:pPr>
            <a:r>
              <a:rPr lang="en-US" sz="3200" b="1">
                <a:solidFill>
                  <a:srgbClr val="000000"/>
                </a:solidFill>
                <a:latin typeface="Canva Sans Bold"/>
                <a:ea typeface="Canva Sans Bold"/>
                <a:cs typeface="Canva Sans Bold"/>
                <a:sym typeface="Canva Sans Bold"/>
              </a:rPr>
              <a:t>• Nuryunarsih, D., et al. (2025). Predicting systolic and diastolic blood pressure response using machine learning. Journal of Current Science and Technology, 15(4).</a:t>
            </a:r>
          </a:p>
        </p:txBody>
      </p:sp>
      <p:sp>
        <p:nvSpPr>
          <p:cNvPr id="4" name="Freeform 4"/>
          <p:cNvSpPr/>
          <p:nvPr/>
        </p:nvSpPr>
        <p:spPr>
          <a:xfrm>
            <a:off x="12016092" y="2976664"/>
            <a:ext cx="3023608" cy="3325968"/>
          </a:xfrm>
          <a:custGeom>
            <a:avLst/>
            <a:gdLst/>
            <a:ahLst/>
            <a:cxnLst/>
            <a:rect l="l" t="t" r="r" b="b"/>
            <a:pathLst>
              <a:path w="3023608" h="3325968">
                <a:moveTo>
                  <a:pt x="0" y="0"/>
                </a:moveTo>
                <a:lnTo>
                  <a:pt x="3023607" y="0"/>
                </a:lnTo>
                <a:lnTo>
                  <a:pt x="3023607" y="3325968"/>
                </a:lnTo>
                <a:lnTo>
                  <a:pt x="0" y="3325968"/>
                </a:lnTo>
                <a:lnTo>
                  <a:pt x="0" y="0"/>
                </a:lnTo>
                <a:close/>
              </a:path>
            </a:pathLst>
          </a:custGeom>
          <a:blipFill>
            <a:blip r:embed="rId3"/>
            <a:stretch>
              <a:fillRect l="-36190" t="-87433" r="-15820" b="-60160"/>
            </a:stretch>
          </a:blipFill>
        </p:spPr>
        <p:txBody>
          <a:bodyPr/>
          <a:lstStyle/>
          <a:p>
            <a:endParaRPr lang="en-GB"/>
          </a:p>
        </p:txBody>
      </p:sp>
      <p:sp>
        <p:nvSpPr>
          <p:cNvPr id="5" name="TextBox 5"/>
          <p:cNvSpPr txBox="1"/>
          <p:nvPr/>
        </p:nvSpPr>
        <p:spPr>
          <a:xfrm>
            <a:off x="457200" y="723900"/>
            <a:ext cx="9473421" cy="738506"/>
          </a:xfrm>
          <a:prstGeom prst="rect">
            <a:avLst/>
          </a:prstGeom>
        </p:spPr>
        <p:txBody>
          <a:bodyPr wrap="square" lIns="0" tIns="0" rIns="0" bIns="0" rtlCol="0" anchor="t">
            <a:spAutoFit/>
          </a:bodyPr>
          <a:lstStyle/>
          <a:p>
            <a:pPr algn="ctr">
              <a:lnSpc>
                <a:spcPts val="6019"/>
              </a:lnSpc>
              <a:spcBef>
                <a:spcPct val="0"/>
              </a:spcBef>
            </a:pPr>
            <a:r>
              <a:rPr lang="en-US" sz="4299" b="1" dirty="0">
                <a:solidFill>
                  <a:srgbClr val="15477B"/>
                </a:solidFill>
                <a:latin typeface="Canva Sans Bold"/>
                <a:ea typeface="Canva Sans Bold"/>
                <a:cs typeface="Canva Sans Bold"/>
                <a:sym typeface="Canva Sans Bold"/>
              </a:rPr>
              <a:t>References /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1376</Words>
  <Application>Microsoft Office PowerPoint</Application>
  <PresentationFormat>Custom</PresentationFormat>
  <Paragraphs>138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Prediction Models in Health Research</dc:title>
  <dc:creator>User</dc:creator>
  <cp:lastModifiedBy>Desy Nuryunarsih</cp:lastModifiedBy>
  <cp:revision>4</cp:revision>
  <dcterms:created xsi:type="dcterms:W3CDTF">2006-08-16T00:00:00Z</dcterms:created>
  <dcterms:modified xsi:type="dcterms:W3CDTF">2026-08-06T17:11:43Z</dcterms:modified>
  <dc:identifier>DAHRcLwuDyQ</dc:identifier>
</cp:coreProperties>
</file>